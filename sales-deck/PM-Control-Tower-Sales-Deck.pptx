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CPI (cost)</c:v>
                </c:pt>
              </c:strCache>
            </c:strRef>
          </c:tx>
          <c:spPr>
            <a:solidFill>
              <a:srgbClr val="1D4ED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E22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ERP-001</c:v>
                  </c:pt>
                  <c:pt idx="1">
                    <c:v>DATA-002</c:v>
                  </c:pt>
                  <c:pt idx="2">
                    <c:v>PORT-003</c:v>
                  </c:pt>
                  <c:pt idx="3">
                    <c:v>MOB-004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1.02</c:v>
                </c:pt>
                <c:pt idx="1">
                  <c:v>0.78</c:v>
                </c:pt>
                <c:pt idx="2">
                  <c:v>0.71</c:v>
                </c:pt>
                <c:pt idx="3">
                  <c:v>0.95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SPI (schedule)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E22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ERP-001</c:v>
                  </c:pt>
                  <c:pt idx="1">
                    <c:v>DATA-002</c:v>
                  </c:pt>
                  <c:pt idx="2">
                    <c:v>PORT-003</c:v>
                  </c:pt>
                  <c:pt idx="3">
                    <c:v>MOB-004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0.88</c:v>
                </c:pt>
                <c:pt idx="1">
                  <c:v>0.81</c:v>
                </c:pt>
                <c:pt idx="2">
                  <c:v>0.49</c:v>
                </c:pt>
                <c:pt idx="3">
                  <c:v>1.06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0E22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D6E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</c:scaling>
        <c:delete val="0"/>
        <c:axPos val="l"/>
        <c:majorGridlines>
          <c:spPr>
            <a:ln w="6350" cap="flat">
              <a:solidFill>
                <a:srgbClr val="E6EBF2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D6E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D6E85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E22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9F6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Spreadsheets &amp; decks</c:v>
                  </c:pt>
                  <c:pt idx="1">
                    <c:v>With PM Control Tower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</c:v>
                </c:pt>
                <c:pt idx="1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E22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E2A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D6E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0" y="2743200"/>
            <a:ext cx="1371600" cy="137160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2057400"/>
            <a:ext cx="2743200" cy="274320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1325880"/>
            <a:ext cx="4206240" cy="420624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594360"/>
            <a:ext cx="5669280" cy="566928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0" y="-137160"/>
            <a:ext cx="7132320" cy="713232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835640" y="1828800"/>
            <a:ext cx="146304" cy="146304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8" name="Shape 6"/>
          <p:cNvSpPr/>
          <p:nvPr/>
        </p:nvSpPr>
        <p:spPr>
          <a:xfrm>
            <a:off x="8778240" y="448056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11247120" y="3977640"/>
            <a:ext cx="146304" cy="14630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0" name="Shape 8"/>
          <p:cNvSpPr/>
          <p:nvPr/>
        </p:nvSpPr>
        <p:spPr>
          <a:xfrm>
            <a:off x="9235440" y="2286000"/>
            <a:ext cx="109728" cy="109728"/>
          </a:xfrm>
          <a:prstGeom prst="ellipse">
            <a:avLst/>
          </a:prstGeom>
          <a:solidFill>
            <a:srgbClr val="3E5E86"/>
          </a:solidFill>
          <a:ln/>
        </p:spPr>
      </p:sp>
      <p:sp>
        <p:nvSpPr>
          <p:cNvPr id="11" name="Shape 9"/>
          <p:cNvSpPr/>
          <p:nvPr/>
        </p:nvSpPr>
        <p:spPr>
          <a:xfrm>
            <a:off x="10332720" y="2834640"/>
            <a:ext cx="109728" cy="109728"/>
          </a:xfrm>
          <a:prstGeom prst="ellipse">
            <a:avLst/>
          </a:prstGeom>
          <a:solidFill>
            <a:srgbClr val="3E5E86"/>
          </a:solidFill>
          <a:ln/>
        </p:spPr>
      </p:sp>
      <p:sp>
        <p:nvSpPr>
          <p:cNvPr id="12" name="Shape 10"/>
          <p:cNvSpPr/>
          <p:nvPr/>
        </p:nvSpPr>
        <p:spPr>
          <a:xfrm>
            <a:off x="8412480" y="3108960"/>
            <a:ext cx="109728" cy="109728"/>
          </a:xfrm>
          <a:prstGeom prst="ellipse">
            <a:avLst/>
          </a:prstGeom>
          <a:solidFill>
            <a:srgbClr val="3E5E86"/>
          </a:solidFill>
          <a:ln/>
        </p:spPr>
      </p:sp>
      <p:sp>
        <p:nvSpPr>
          <p:cNvPr id="13" name="Text 11"/>
          <p:cNvSpPr/>
          <p:nvPr/>
        </p:nvSpPr>
        <p:spPr>
          <a:xfrm>
            <a:off x="10927080" y="539496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7405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 CONTROL TOWER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57200" y="123444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PROJECT · PROGRAM · PORTFOLIO MANAGEMENT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1627632"/>
            <a:ext cx="87782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 CONTROL</a:t>
            </a:r>
            <a:endParaRPr lang="en-US" sz="6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TOWER</a:t>
            </a:r>
            <a:endParaRPr lang="en-US" sz="6600" dirty="0"/>
          </a:p>
        </p:txBody>
      </p:sp>
      <p:sp>
        <p:nvSpPr>
          <p:cNvPr id="16" name="Text 14"/>
          <p:cNvSpPr/>
          <p:nvPr/>
        </p:nvSpPr>
        <p:spPr>
          <a:xfrm>
            <a:off x="457200" y="37947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7E2F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platform. Complete project intelligence. </a:t>
            </a:r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Greater outcomes.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7200" y="44348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 → Program → Project → Delivery — one source of truth for scope, schedule, cost, risk, EVM and governance. Self-hosted, realtime, audit-ready — Integrity Layer, P80 forecasting, investment &amp; business case analysis (ROI · NPV · IRR · payback) and benefits realization.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5806440"/>
            <a:ext cx="2926080" cy="0"/>
          </a:xfrm>
          <a:prstGeom prst="line">
            <a:avLst/>
          </a:prstGeom>
          <a:noFill/>
          <a:ln w="12700">
            <a:solidFill>
              <a:srgbClr val="2740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dynamiq Solutions  ·  Corporate Sales Presentation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APPLICATION DOES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control tower for the entire delivery enterprise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Leadership never has to ask a project manager for status. </a:t>
            </a:r>
            <a:pPr indent="0" marL="0">
              <a:buNone/>
            </a:pPr>
            <a:r>
              <a:rPr lang="en-US" sz="16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 Control Tower continuously aggregates live operational data into decision-ready views, exception-first feeds and one-click executive reporting.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606040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1D4ED8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606040"/>
            <a:ext cx="129844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769364" y="2926080"/>
            <a:ext cx="118872" cy="10223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8" name="Shape 6"/>
          <p:cNvSpPr/>
          <p:nvPr/>
        </p:nvSpPr>
        <p:spPr>
          <a:xfrm>
            <a:off x="1873606" y="2606040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13294A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73606" y="2606040"/>
            <a:ext cx="129844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85770" y="2926080"/>
            <a:ext cx="118872" cy="10223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11" name="Shape 9"/>
          <p:cNvSpPr/>
          <p:nvPr/>
        </p:nvSpPr>
        <p:spPr>
          <a:xfrm>
            <a:off x="3290011" y="2606040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1D4ED8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0011" y="2606040"/>
            <a:ext cx="129844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02175" y="2926080"/>
            <a:ext cx="118872" cy="10223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14" name="Shape 12"/>
          <p:cNvSpPr/>
          <p:nvPr/>
        </p:nvSpPr>
        <p:spPr>
          <a:xfrm>
            <a:off x="4706417" y="2606040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13294A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6417" y="2606040"/>
            <a:ext cx="129844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WBS · TASKS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18581" y="2926080"/>
            <a:ext cx="118872" cy="10223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2822" y="2606040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1D4ED8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2822" y="2606040"/>
            <a:ext cx="129844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· CPM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434986" y="2926080"/>
            <a:ext cx="118872" cy="10223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7539228" y="2606040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13294A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539228" y="2606040"/>
            <a:ext cx="129844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EVM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851392" y="2926080"/>
            <a:ext cx="118872" cy="10223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23" name="Shape 21"/>
          <p:cNvSpPr/>
          <p:nvPr/>
        </p:nvSpPr>
        <p:spPr>
          <a:xfrm>
            <a:off x="8955634" y="2606040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1D4ED8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955634" y="2606040"/>
            <a:ext cx="129844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0267798" y="2926080"/>
            <a:ext cx="118872" cy="10223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10372039" y="2606040"/>
            <a:ext cx="1298448" cy="841248"/>
          </a:xfrm>
          <a:prstGeom prst="roundRect">
            <a:avLst>
              <a:gd name="adj" fmla="val 8696"/>
            </a:avLst>
          </a:prstGeom>
          <a:solidFill>
            <a:srgbClr val="0E2240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372039" y="2606040"/>
            <a:ext cx="1298448" cy="8412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LEADERSHIP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3657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layer writes to one governed data model — roll-ups, health and forecasts are computed, never re-typed.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25196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7200" y="4480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57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457200" y="5230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models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2752344" y="425196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752344" y="4480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104</a:t>
            </a:r>
            <a:endParaRPr lang="en-US" sz="4000" dirty="0"/>
          </a:p>
        </p:txBody>
      </p:sp>
      <p:sp>
        <p:nvSpPr>
          <p:cNvPr id="34" name="Text 32"/>
          <p:cNvSpPr/>
          <p:nvPr/>
        </p:nvSpPr>
        <p:spPr>
          <a:xfrm>
            <a:off x="2752344" y="5230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routes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5047488" y="425196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E7EEFC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047488" y="4480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4000" dirty="0"/>
          </a:p>
        </p:txBody>
      </p:sp>
      <p:sp>
        <p:nvSpPr>
          <p:cNvPr id="37" name="Text 35"/>
          <p:cNvSpPr/>
          <p:nvPr/>
        </p:nvSpPr>
        <p:spPr>
          <a:xfrm>
            <a:off x="5047488" y="5230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computation engines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7342632" y="425196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342632" y="4480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</a:t>
            </a:r>
            <a:endParaRPr lang="en-US" sz="4000" dirty="0"/>
          </a:p>
        </p:txBody>
      </p:sp>
      <p:sp>
        <p:nvSpPr>
          <p:cNvPr id="40" name="Text 38"/>
          <p:cNvSpPr/>
          <p:nvPr/>
        </p:nvSpPr>
        <p:spPr>
          <a:xfrm>
            <a:off x="7342632" y="5230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modules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9637776" y="4251960"/>
            <a:ext cx="2103120" cy="1600200"/>
          </a:xfrm>
          <a:prstGeom prst="roundRect">
            <a:avLst>
              <a:gd name="adj" fmla="val 4571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9637776" y="44805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4000" dirty="0"/>
          </a:p>
        </p:txBody>
      </p:sp>
      <p:sp>
        <p:nvSpPr>
          <p:cNvPr id="43" name="Text 41"/>
          <p:cNvSpPr/>
          <p:nvPr/>
        </p:nvSpPr>
        <p:spPr>
          <a:xfrm>
            <a:off x="9637776" y="52303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realtime services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57200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footprint: PM Control Tower v1.0.0 product specification.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INTEGRITY LAYER — V1.1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Eight firsts, one operational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17904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94944" y="1810512"/>
            <a:ext cx="164592" cy="164592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6" name="Text 4"/>
          <p:cNvSpPr/>
          <p:nvPr/>
        </p:nvSpPr>
        <p:spPr>
          <a:xfrm>
            <a:off x="969264" y="1700784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Freshness Engine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94944" y="2359152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dashboard tells you when it is lying — DATA AS OF chips, hatched stale tiles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74136" y="1517904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11880" y="1810512"/>
            <a:ext cx="164592" cy="16459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3886200" y="1700784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Bundles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11880" y="2359152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SHA-256 tamper-evident chain; ZIP export; verification pinpoints altered records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91072" y="1517904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28816" y="1810512"/>
            <a:ext cx="164592" cy="16459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6803136" y="1700784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P80 Forecasting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28816" y="2359152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Seeded Monte Carlo on an async worker — honest P50–P80 date ranges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208008" y="1517904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445752" y="1810512"/>
            <a:ext cx="164592" cy="16459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8" name="Text 16"/>
          <p:cNvSpPr/>
          <p:nvPr/>
        </p:nvSpPr>
        <p:spPr>
          <a:xfrm>
            <a:off x="9720072" y="1700784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Say/Do Calibration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45752" y="2359152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organization remembers its estimation bias — advisory only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730752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4944" y="402336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969264" y="3913632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 Sandbox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" y="457200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decisions on a clone; drift-aware rebase merge as a Change Request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374136" y="3730752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11880" y="4023360"/>
            <a:ext cx="164592" cy="164592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886200" y="3913632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Steering Pack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611880" y="457200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drafts, humans approve via signed expiring links — never auto-executes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91072" y="3730752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28816" y="4023360"/>
            <a:ext cx="164592" cy="164592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30" name="Text 28"/>
          <p:cNvSpPr/>
          <p:nvPr/>
        </p:nvSpPr>
        <p:spPr>
          <a:xfrm>
            <a:off x="6803136" y="3913632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 Realization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28816" y="457200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promised vs delivered after go-live — strategic RAG overlay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9208008" y="3730752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445752" y="4023360"/>
            <a:ext cx="164592" cy="164592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34" name="Text 32"/>
          <p:cNvSpPr/>
          <p:nvPr/>
        </p:nvSpPr>
        <p:spPr>
          <a:xfrm>
            <a:off x="9720072" y="3913632"/>
            <a:ext cx="2093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Traceability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445752" y="4572000"/>
            <a:ext cx="22585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mutation audited; every stochastic result reproducible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0350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moat is not any single feature — </a:t>
            </a:r>
            <a:pPr indent="0" marL="0">
              <a:buNone/>
            </a:pPr>
            <a:r>
              <a:rPr lang="en-US" sz="13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is that the architecture makes honesty structurally easy.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BUSINESS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is flying blind — and it shows up in the P&amp;L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7830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9.9%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every dollar invested is wasted through poor project performance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279392" y="155448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79392" y="17830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28×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553712" y="28346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 money wasted by organizations with mature delivery practices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01584" y="155448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01584" y="17830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34%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8375904" y="283464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projects mostly or always meet their original goals and business intent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11274552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724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looks like inside the enterprise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66344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decks assembled by hand every week — out of date the moment they are sent.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Portfolio, finance and delivery each hold a different version of the truth in spreadsheets.</a:t>
            </a:r>
            <a:endParaRPr lang="en-US" sz="13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 and cost overruns surface at steering committees — after the decision window has closed.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Sources: PMI, Pulse of the Profession (2018); Wellingtone, State of Project Management.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PROBLEMS IT SOLVES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status-chasing to self-reporting delivery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DEEEE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81328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status decks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800600" y="1764792"/>
            <a:ext cx="237744" cy="20446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7" name="Shape 5"/>
          <p:cNvSpPr/>
          <p:nvPr/>
        </p:nvSpPr>
        <p:spPr>
          <a:xfrm>
            <a:off x="5257800" y="1481328"/>
            <a:ext cx="6473952" cy="804672"/>
          </a:xfrm>
          <a:prstGeom prst="roundRect">
            <a:avLst>
              <a:gd name="adj" fmla="val 9091"/>
            </a:avLst>
          </a:prstGeom>
          <a:solidFill>
            <a:srgbClr val="E7EEF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0" y="1481328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Views computed live from operational data — never re-typed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7200" y="2450592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DEEEE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50592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Scattered spreadsheets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800600" y="2734056"/>
            <a:ext cx="237744" cy="20446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5257800" y="2450592"/>
            <a:ext cx="6473952" cy="804672"/>
          </a:xfrm>
          <a:prstGeom prst="roundRect">
            <a:avLst>
              <a:gd name="adj" fmla="val 9091"/>
            </a:avLst>
          </a:prstGeom>
          <a:solidFill>
            <a:srgbClr val="E7EEF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2450592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governed data model: 57 models, one source of truth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57200" y="3419856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D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419856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 surface too late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800600" y="3703320"/>
            <a:ext cx="237744" cy="20446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17" name="Shape 15"/>
          <p:cNvSpPr/>
          <p:nvPr/>
        </p:nvSpPr>
        <p:spPr>
          <a:xfrm>
            <a:off x="5257800" y="3419856"/>
            <a:ext cx="6473952" cy="804672"/>
          </a:xfrm>
          <a:prstGeom prst="roundRect">
            <a:avLst>
              <a:gd name="adj" fmla="val 9091"/>
            </a:avLst>
          </a:prstGeom>
          <a:solidFill>
            <a:srgbClr val="E7EEFC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0" y="3419856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rules watch thresholds and push alerts to inboxes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457200" y="4389120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D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38912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&amp; schedule blind spots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4800600" y="4672584"/>
            <a:ext cx="237744" cy="20446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22" name="Shape 20"/>
          <p:cNvSpPr/>
          <p:nvPr/>
        </p:nvSpPr>
        <p:spPr>
          <a:xfrm>
            <a:off x="5257800" y="4389120"/>
            <a:ext cx="6473952" cy="804672"/>
          </a:xfrm>
          <a:prstGeom prst="roundRect">
            <a:avLst>
              <a:gd name="adj" fmla="val 9091"/>
            </a:avLst>
          </a:prstGeom>
          <a:solidFill>
            <a:srgbClr val="E7EEFC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4389120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CPM + EVM engines quantify float, CPI, SPI and forecast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457200" y="5358384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DEEEE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5358384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Decisions without traceability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4800600" y="5641848"/>
            <a:ext cx="237744" cy="204460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5257800" y="5358384"/>
            <a:ext cx="6473952" cy="804672"/>
          </a:xfrm>
          <a:prstGeom prst="roundRect">
            <a:avLst>
              <a:gd name="adj" fmla="val 9091"/>
            </a:avLst>
          </a:prstGeom>
          <a:solidFill>
            <a:srgbClr val="E7EEFC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0" y="5358384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audit trail on every change, approval and gate decision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Eight engines of control, one platform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17904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92224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7785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41248" y="197510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16459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CPM Schedule Engine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325880" y="1975104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ES/EF/LS/LF, float and critical path recomputed on every change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6208" y="1517904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37376" y="1792224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/>
        </p:spPr>
      </p:sp>
      <p:sp>
        <p:nvSpPr>
          <p:cNvPr id="12" name="Text 10"/>
          <p:cNvSpPr/>
          <p:nvPr/>
        </p:nvSpPr>
        <p:spPr>
          <a:xfrm>
            <a:off x="6437376" y="17785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20256" y="1975104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104888" y="16459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EVM Engine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04888" y="1975104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CPI, SPI, EAC, ETC, VAC, TCPI with period-over-period history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724912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2999232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0E9F6E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29855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1248" y="318211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325880" y="28529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 &amp; Governance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25880" y="318211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RAG snapshots; threshold rules raise alerts straight to inboxes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36208" y="2724912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37376" y="2999232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/>
        </p:spPr>
      </p:sp>
      <p:sp>
        <p:nvSpPr>
          <p:cNvPr id="24" name="Text 22"/>
          <p:cNvSpPr/>
          <p:nvPr/>
        </p:nvSpPr>
        <p:spPr>
          <a:xfrm>
            <a:off x="6437376" y="298551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20256" y="3182112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104888" y="285292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Resources &amp; Capacity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104888" y="318211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Register, rates, utilization and over-allocation flags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57200" y="3931920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8368" y="4206240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1D4ED8"/>
          </a:solidFill>
          <a:ln/>
        </p:spPr>
      </p:sp>
      <p:sp>
        <p:nvSpPr>
          <p:cNvPr id="30" name="Text 28"/>
          <p:cNvSpPr/>
          <p:nvPr/>
        </p:nvSpPr>
        <p:spPr>
          <a:xfrm>
            <a:off x="658368" y="41925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41248" y="4389120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325880" y="40599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Timesheet Cascade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325880" y="438912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→ approve → lock flows straight into actuals and cost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236208" y="3931920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37376" y="4206240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0E9F6E"/>
          </a:solidFill>
          <a:ln/>
        </p:spPr>
      </p:sp>
      <p:sp>
        <p:nvSpPr>
          <p:cNvPr id="36" name="Text 34"/>
          <p:cNvSpPr/>
          <p:nvPr/>
        </p:nvSpPr>
        <p:spPr>
          <a:xfrm>
            <a:off x="6437376" y="41925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20256" y="4389120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7104888" y="40599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Inbox &amp; Planner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104888" y="438912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Personal action stream plus weekly focus-time planning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57200" y="5138928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58368" y="5413248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658368" y="53995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41248" y="5596128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1325880" y="52669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RAID · Change · Gates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1325880" y="559612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Risks, issues, assumptions, change requests, stage-gate decisions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6236208" y="5138928"/>
            <a:ext cx="5486400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437376" y="5413248"/>
            <a:ext cx="493776" cy="493776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48" name="Text 46"/>
          <p:cNvSpPr/>
          <p:nvPr/>
        </p:nvSpPr>
        <p:spPr>
          <a:xfrm>
            <a:off x="6437376" y="53995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620256" y="5596128"/>
            <a:ext cx="128016" cy="1280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7104888" y="526694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Leadership Pack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7104888" y="559612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One-click, versioned, comparable executive reporting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 &amp; MODULES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platform, seven governed domains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17904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1261872" y="1792224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6656" y="2386584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Portfolios · Programs · Projects · RAG health · Budgets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74136" y="1517904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93592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4178808" y="1792224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93592" y="2386584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Requirements · WBS · Tasks · Schedule · Milestones · Baselines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91072" y="1517904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10528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14" name="Text 12"/>
          <p:cNvSpPr/>
          <p:nvPr/>
        </p:nvSpPr>
        <p:spPr>
          <a:xfrm>
            <a:off x="7095744" y="1792224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10528" y="2386584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Resources · Timesheets · Work Inbox · Focus Planner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208008" y="1517904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427464" y="17373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10012680" y="1792224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427464" y="2386584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Financials · EVM · RAID · Change · Gates · Governance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3730752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" y="39502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D4ED8"/>
          </a:solidFill>
          <a:ln/>
        </p:spPr>
      </p:sp>
      <p:sp>
        <p:nvSpPr>
          <p:cNvPr id="22" name="Text 20"/>
          <p:cNvSpPr/>
          <p:nvPr/>
        </p:nvSpPr>
        <p:spPr>
          <a:xfrm>
            <a:off x="1261872" y="4005072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" y="4599432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Tower · Leadership Pack · Analytics · AI Assistant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374136" y="3730752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593592" y="39502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E9F6E"/>
          </a:solidFill>
          <a:ln/>
        </p:spPr>
      </p:sp>
      <p:sp>
        <p:nvSpPr>
          <p:cNvPr id="26" name="Text 24"/>
          <p:cNvSpPr/>
          <p:nvPr/>
        </p:nvSpPr>
        <p:spPr>
          <a:xfrm>
            <a:off x="4178808" y="4005072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93592" y="4599432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Integrations · Webhooks · Automations · AI Gateway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291072" y="3730752"/>
            <a:ext cx="2734056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10528" y="3950208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7095744" y="4005072"/>
            <a:ext cx="181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10528" y="4599432"/>
            <a:ext cx="22951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Users · Roles · Templates · Audit Trail · Configuration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0350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 view modules</a:t>
            </a:r>
            <a:pPr indent="0" marL="0">
              <a:buNone/>
            </a:pPr>
            <a:r>
              <a:rPr lang="en-US" sz="13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every screen reads from the same engines, so a number changed once is changed everywhere.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EACH FEATURE IS USED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around how each role actually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17904"/>
            <a:ext cx="11274552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773936"/>
            <a:ext cx="2286000" cy="53035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760220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200400" y="1627632"/>
            <a:ext cx="8321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 the Executive Control Tower — exceptions first, RAG with honest GREY, 30/60/90 outlook — decides stage gates, exports the Leadership Pack.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724912"/>
            <a:ext cx="11274552" cy="1042416"/>
          </a:xfrm>
          <a:prstGeom prst="roundRect">
            <a:avLst>
              <a:gd name="adj" fmla="val 789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" y="2980944"/>
            <a:ext cx="2286000" cy="53035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2967228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PMO ADMIN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00400" y="2834640"/>
            <a:ext cx="8321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Provisions users across 8 roles / 32 permissions, applies PMO templates to new projects, tunes governance thresholds, monitors the audit trail.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11274552" cy="1042416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4187952"/>
            <a:ext cx="2286000" cy="530352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4174236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MANAGER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00400" y="4041648"/>
            <a:ext cx="8321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Builds WBS and CPM schedule, baselines, tracks CPI/SPI and RAID, routes change requests — status writes itself as the team works.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57200" y="5138928"/>
            <a:ext cx="11274552" cy="1042416"/>
          </a:xfrm>
          <a:prstGeom prst="roundRect">
            <a:avLst>
              <a:gd name="adj" fmla="val 789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5394960"/>
            <a:ext cx="2286000" cy="53035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5381244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MEMBER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200400" y="5248656"/>
            <a:ext cx="8321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Plans the week in Focus Planner, works the personal inbox, files weekly timesheets that flow into real cost and EVM — no separate reporting.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&amp; AUTOMATION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cascade: from timesheet to boardroom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72768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1D4ED8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664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2075688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Timesheet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submitted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99132" y="2139696"/>
            <a:ext cx="155448" cy="133685"/>
          </a:xfrm>
          <a:prstGeom prst="chevron">
            <a:avLst/>
          </a:prstGeom>
          <a:solidFill>
            <a:srgbClr val="9AA9BD"/>
          </a:solidFill>
          <a:ln/>
        </p:spPr>
      </p:sp>
      <p:sp>
        <p:nvSpPr>
          <p:cNvPr id="8" name="Shape 6"/>
          <p:cNvSpPr/>
          <p:nvPr/>
        </p:nvSpPr>
        <p:spPr>
          <a:xfrm>
            <a:off x="2404872" y="1572768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1D4ED8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1664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514600" y="2075688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Approved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&amp; locked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46804" y="2139696"/>
            <a:ext cx="155448" cy="133685"/>
          </a:xfrm>
          <a:prstGeom prst="chevron">
            <a:avLst/>
          </a:prstGeom>
          <a:solidFill>
            <a:srgbClr val="9AA9BD"/>
          </a:solidFill>
          <a:ln/>
        </p:spPr>
      </p:sp>
      <p:sp>
        <p:nvSpPr>
          <p:cNvPr id="12" name="Shape 10"/>
          <p:cNvSpPr/>
          <p:nvPr/>
        </p:nvSpPr>
        <p:spPr>
          <a:xfrm>
            <a:off x="4352544" y="1572768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1D4ED8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62272" y="1664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462272" y="2075688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Actuals &amp; cost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roll-up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94476" y="2139696"/>
            <a:ext cx="155448" cy="133685"/>
          </a:xfrm>
          <a:prstGeom prst="chevron">
            <a:avLst/>
          </a:prstGeom>
          <a:solidFill>
            <a:srgbClr val="9AA9BD"/>
          </a:solidFill>
          <a:ln/>
        </p:spPr>
      </p:sp>
      <p:sp>
        <p:nvSpPr>
          <p:cNvPr id="16" name="Shape 14"/>
          <p:cNvSpPr/>
          <p:nvPr/>
        </p:nvSpPr>
        <p:spPr>
          <a:xfrm>
            <a:off x="6300216" y="1572768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0E9F6E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9944" y="1664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9944" y="2075688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EVM period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CPI / SPI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2148" y="2139696"/>
            <a:ext cx="155448" cy="133685"/>
          </a:xfrm>
          <a:prstGeom prst="chevron">
            <a:avLst/>
          </a:prstGeom>
          <a:solidFill>
            <a:srgbClr val="9AA9BD"/>
          </a:solidFill>
          <a:ln/>
        </p:spPr>
      </p:sp>
      <p:sp>
        <p:nvSpPr>
          <p:cNvPr id="20" name="Shape 18"/>
          <p:cNvSpPr/>
          <p:nvPr/>
        </p:nvSpPr>
        <p:spPr>
          <a:xfrm>
            <a:off x="8247888" y="1572768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0E9F6E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57616" y="1664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357616" y="2075688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snapshot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989820" y="2139696"/>
            <a:ext cx="155448" cy="133685"/>
          </a:xfrm>
          <a:prstGeom prst="chevron">
            <a:avLst/>
          </a:prstGeom>
          <a:solidFill>
            <a:srgbClr val="9AA9BD"/>
          </a:solidFill>
          <a:ln/>
        </p:spPr>
      </p:sp>
      <p:sp>
        <p:nvSpPr>
          <p:cNvPr id="24" name="Shape 22"/>
          <p:cNvSpPr/>
          <p:nvPr/>
        </p:nvSpPr>
        <p:spPr>
          <a:xfrm>
            <a:off x="10195560" y="1572768"/>
            <a:ext cx="1700784" cy="1371600"/>
          </a:xfrm>
          <a:prstGeom prst="roundRect">
            <a:avLst>
              <a:gd name="adj" fmla="val 6667"/>
            </a:avLst>
          </a:prstGeom>
          <a:solidFill>
            <a:srgbClr val="F59E0B"/>
          </a:solidFill>
          <a:ln/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305288" y="1664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305288" y="2075688"/>
            <a:ext cx="1481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</a:t>
            </a:r>
            <a:endParaRPr lang="en-US" sz="13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3200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6 fans out automatically:  </a:t>
            </a:r>
            <a:pPr indent="0" marL="0">
              <a:buNone/>
            </a:pPr>
            <a:r>
              <a:rPr lang="en-US" sz="14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alerts land in role inboxes, automations fire, leadership views refresh in realtime — zero human assembly.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749040"/>
            <a:ext cx="11274552" cy="2148840"/>
          </a:xfrm>
          <a:prstGeom prst="roundRect">
            <a:avLst>
              <a:gd name="adj" fmla="val 425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77240" y="395020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Automation rules react to triggers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77240" y="4370832"/>
            <a:ext cx="1783080" cy="475488"/>
          </a:xfrm>
          <a:prstGeom prst="roundRect">
            <a:avLst>
              <a:gd name="adj" fmla="val 17308"/>
            </a:avLst>
          </a:prstGeom>
          <a:solidFill>
            <a:srgbClr val="0E2240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435711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TASK_OVERDUE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2697480" y="437083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 alerted, task flagged on the register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217920" y="4370832"/>
            <a:ext cx="1783080" cy="475488"/>
          </a:xfrm>
          <a:prstGeom prst="roundRect">
            <a:avLst>
              <a:gd name="adj" fmla="val 17308"/>
            </a:avLst>
          </a:prstGeom>
          <a:solidFill>
            <a:srgbClr val="0E2240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4357116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CRITICAL_RISK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8138160" y="437083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escalation raised in inbox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77240" y="5120640"/>
            <a:ext cx="1783080" cy="475488"/>
          </a:xfrm>
          <a:prstGeom prst="roundRect">
            <a:avLst>
              <a:gd name="adj" fmla="val 17308"/>
            </a:avLst>
          </a:prstGeom>
          <a:solidFill>
            <a:srgbClr val="0E2240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510692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BUDGET_BREACH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697480" y="512064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 controller notified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217920" y="5120640"/>
            <a:ext cx="1783080" cy="475488"/>
          </a:xfrm>
          <a:prstGeom prst="roundRect">
            <a:avLst>
              <a:gd name="adj" fmla="val 17308"/>
            </a:avLst>
          </a:prstGeom>
          <a:solidFill>
            <a:srgbClr val="0E2240"/>
          </a:solidFill>
          <a:ln/>
        </p:spPr>
      </p:sp>
      <p:sp>
        <p:nvSpPr>
          <p:cNvPr id="40" name="Text 38"/>
          <p:cNvSpPr/>
          <p:nvPr/>
        </p:nvSpPr>
        <p:spPr>
          <a:xfrm>
            <a:off x="6217920" y="5106924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HEALTH_DROP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138160" y="512064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Steering review queued, snapshot kept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457200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Socket.IO realtime gateway pushes every engine result to connected screens instantly.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Benefits that compound at every level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17904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73936"/>
            <a:ext cx="2011680" cy="475488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602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2487168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source of truth across portfolios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Capacity &amp; over-allocation visible daily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Governance exceptions in one queue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Fewer, shorter status meetings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79392" y="1517904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53712" y="1773936"/>
            <a:ext cx="2011680" cy="475488"/>
          </a:xfrm>
          <a:prstGeom prst="roundRect">
            <a:avLst>
              <a:gd name="adj" fmla="val 50000"/>
            </a:avLst>
          </a:prstGeom>
          <a:solidFill>
            <a:srgbClr val="0E9F6E"/>
          </a:solidFill>
          <a:ln/>
        </p:spPr>
      </p:sp>
      <p:sp>
        <p:nvSpPr>
          <p:cNvPr id="10" name="Text 8"/>
          <p:cNvSpPr/>
          <p:nvPr/>
        </p:nvSpPr>
        <p:spPr>
          <a:xfrm>
            <a:off x="4553712" y="17602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2487168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Focus time planned, protected and linked to tasks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inbox for everything that needs action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Timesheets feed real EVM — they count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Less reporting admin, more delivery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01584" y="1517904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E7EEFC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75904" y="1773936"/>
            <a:ext cx="2011680" cy="47548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8375904" y="1760220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LEADERSHIP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94192" y="2487168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Decision-ready views, exceptions first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One-click, versioned board pack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Traceable insight behind every number</a:t>
            </a:r>
            <a:endParaRPr lang="en-US" sz="130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Honest GREY status — never fake green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589788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GREY honesty: </a:t>
            </a:r>
            <a:pPr indent="0" marL="0">
              <a:buNone/>
            </a:pPr>
            <a:r>
              <a:rPr lang="en-US" sz="13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data is missing, the tower shows GREY — not a comforting green. Executives trust what they see.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&amp; ANALYTICS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 that answer, not decorate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612648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6420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Earned value by project — CPI / SPI at latest period close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2057400"/>
          <a:ext cx="56692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858000" y="1481328"/>
            <a:ext cx="4873752" cy="731520"/>
          </a:xfrm>
          <a:prstGeom prst="roundRect">
            <a:avLst>
              <a:gd name="adj" fmla="val 10000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086600" y="156362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Control Tower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086600" y="184708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Exception-first feed, RAG + GREY, traceable insights, 30/60/90 outlook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858000" y="2359152"/>
            <a:ext cx="4873752" cy="731520"/>
          </a:xfrm>
          <a:prstGeom prst="roundRect">
            <a:avLst>
              <a:gd name="adj" fmla="val 10000"/>
            </a:avLst>
          </a:prstGeom>
          <a:solidFill>
            <a:srgbClr val="E7EEFC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086600" y="244144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Leadership Pack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086600" y="272491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One-click, versioned, comparable — board-ready in minutes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858000" y="3236976"/>
            <a:ext cx="4873752" cy="731520"/>
          </a:xfrm>
          <a:prstGeom prst="roundRect">
            <a:avLst>
              <a:gd name="adj" fmla="val 10000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086600" y="33192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sub-reports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086600" y="360273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Schedule, cost, resources, RAID, governance, change and more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858000" y="4114800"/>
            <a:ext cx="4873752" cy="731520"/>
          </a:xfrm>
          <a:prstGeom prst="roundRect">
            <a:avLst>
              <a:gd name="adj" fmla="val 10000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086600" y="41970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What-Changed &amp; Analytics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086600" y="448056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 any period; explore trends across the portfolio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858000" y="4992624"/>
            <a:ext cx="4873752" cy="731520"/>
          </a:xfrm>
          <a:prstGeom prst="roundRect">
            <a:avLst>
              <a:gd name="adj" fmla="val 10000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086600" y="507492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PM Assistant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086600" y="535838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in natural language — governed access to all delivery data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457200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Chart: reference deployment sample data (illustrative).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ROI &amp; PRODUCTIVITY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productivity math favors the tower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17904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71907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6–10 h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63347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project manager, per week — recovered from assembling status (est.)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79392" y="1517904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79392" y="171907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E9F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≤ 1 day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53712" y="263347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operational event to executive visibility via the realtime cascade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01584" y="1517904"/>
            <a:ext cx="3611880" cy="2011680"/>
          </a:xfrm>
          <a:prstGeom prst="roundRect">
            <a:avLst>
              <a:gd name="adj" fmla="val 4545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01584" y="1719072"/>
            <a:ext cx="3611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9.9%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8375904" y="263347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project investment is the waste pool mature practices recover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61264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 hours per week on reporting (per PM)</a:t>
            </a:r>
            <a:endParaRPr lang="en-US" sz="13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85800" y="4389120"/>
          <a:ext cx="566928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6858000" y="3840480"/>
            <a:ext cx="4873752" cy="2148840"/>
          </a:xfrm>
          <a:prstGeom prst="roundRect">
            <a:avLst>
              <a:gd name="adj" fmla="val 4255"/>
            </a:avLst>
          </a:prstGeom>
          <a:solidFill>
            <a:srgbClr val="E7EEFC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7132320" y="40233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the payback comes from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7132320" y="4389120"/>
            <a:ext cx="4343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 reporting effort collapses into the work itself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Earlier intervention on lagging projects protects margin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 replaces spreadsheet sprawl and tool patchworks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Hour figures are illustrative estimates; the 9.9% waste figure is sourced (PMI, 2018).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CASES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it earns its keep on day 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10512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967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ERP &amp; technology rollouts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Critical-path control across vendors; cutover gates with evidence; UAT defect and RAID pressure visible in one view.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36208" y="1554480"/>
            <a:ext cx="5486400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64808" y="1810512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0E9F6E"/>
          </a:solidFill>
          <a:ln/>
        </p:spPr>
      </p:sp>
      <p:sp>
        <p:nvSpPr>
          <p:cNvPr id="11" name="Text 9"/>
          <p:cNvSpPr/>
          <p:nvPr/>
        </p:nvSpPr>
        <p:spPr>
          <a:xfrm>
            <a:off x="6464808" y="17967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50608" y="18288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&amp; infrastructure migration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64808" y="251460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Wave planning with dependencies, burn tracked by EVM, spend governance on experimental workloads.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3767328"/>
            <a:ext cx="5486400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402336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0096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0416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Regulated &amp; compliance programs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85800" y="472744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 gates with documented decisions, change control discipline, audit trail that satisfies the second line of defense.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36208" y="3767328"/>
            <a:ext cx="5486400" cy="2029968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64808" y="4023360"/>
            <a:ext cx="512064" cy="512064"/>
          </a:xfrm>
          <a:prstGeom prst="roundRect">
            <a:avLst>
              <a:gd name="adj" fmla="val 16071"/>
            </a:avLst>
          </a:prstGeom>
          <a:solidFill>
            <a:srgbClr val="1D4ED8"/>
          </a:solidFill>
          <a:ln/>
        </p:spPr>
      </p:sp>
      <p:sp>
        <p:nvSpPr>
          <p:cNvPr id="21" name="Text 19"/>
          <p:cNvSpPr/>
          <p:nvPr/>
        </p:nvSpPr>
        <p:spPr>
          <a:xfrm>
            <a:off x="6464808" y="400964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50608" y="404164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PMO stand-up &amp; transformation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64808" y="4727448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RAG standards, templates and portfolio governance in weeks — with the reference dataset as a working model.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274320"/>
            <a:ext cx="1097280" cy="109728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274320"/>
            <a:ext cx="2194560" cy="219456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-822960"/>
            <a:ext cx="3291840" cy="329184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0" y="-1371600"/>
            <a:ext cx="4389120" cy="438912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CORPORATIONS SHOULD ADOPT 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Decisions are only as good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the data beneath them.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13294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34670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Self-hosted control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3694176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in your data center or your cloud — delivery data never leaves your perimeter.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36208" y="320040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13294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3346704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truth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10528" y="3694176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Engines compute health, EVM and forecasts continuously — the tower is always current.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681728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13294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8280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 delivery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5175504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Thresholds, gates, change control and audit are enforced by the system, not by memory.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36208" y="4681728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13294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10528" y="4828032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 time-to-value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10528" y="5175504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dataset, templates and one-click packs make the first steering meeting productive.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 &amp; ONBOARDING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in four weeks — not four months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2734056" cy="2834640"/>
          </a:xfrm>
          <a:prstGeom prst="roundRect">
            <a:avLst>
              <a:gd name="adj" fmla="val 3344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1956816"/>
            <a:ext cx="603504" cy="60350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9385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17320" y="201168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76656" y="2761488"/>
            <a:ext cx="1234440" cy="384048"/>
          </a:xfrm>
          <a:prstGeom prst="roundRect">
            <a:avLst>
              <a:gd name="adj" fmla="val 21429"/>
            </a:avLst>
          </a:prstGeom>
          <a:solidFill>
            <a:srgbClr val="F2F6FB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" y="27477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DAY 1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76656" y="3310128"/>
            <a:ext cx="2295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Compose or bare metal; schema and reference enterprise dataset created on first boot.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09544" y="3017520"/>
            <a:ext cx="146304" cy="125821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12" name="Shape 10"/>
          <p:cNvSpPr/>
          <p:nvPr/>
        </p:nvSpPr>
        <p:spPr>
          <a:xfrm>
            <a:off x="3374136" y="1737360"/>
            <a:ext cx="2734056" cy="2834640"/>
          </a:xfrm>
          <a:prstGeom prst="roundRect">
            <a:avLst>
              <a:gd name="adj" fmla="val 3344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93592" y="1956816"/>
            <a:ext cx="603504" cy="603504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3593592" y="19385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334256" y="201168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593592" y="2761488"/>
            <a:ext cx="1234440" cy="384048"/>
          </a:xfrm>
          <a:prstGeom prst="roundRect">
            <a:avLst>
              <a:gd name="adj" fmla="val 21429"/>
            </a:avLst>
          </a:prstGeom>
          <a:solidFill>
            <a:srgbClr val="F2F6FB"/>
          </a:solidFill>
          <a:ln/>
        </p:spPr>
      </p:sp>
      <p:sp>
        <p:nvSpPr>
          <p:cNvPr id="17" name="Text 15"/>
          <p:cNvSpPr/>
          <p:nvPr/>
        </p:nvSpPr>
        <p:spPr>
          <a:xfrm>
            <a:off x="3593592" y="27477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1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593592" y="3310128"/>
            <a:ext cx="2295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system roles / 32 permissions, PMO template library, governance thresholds and inboxes.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3017520"/>
            <a:ext cx="146304" cy="125821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6291072" y="1737360"/>
            <a:ext cx="2734056" cy="2834640"/>
          </a:xfrm>
          <a:prstGeom prst="roundRect">
            <a:avLst>
              <a:gd name="adj" fmla="val 3344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10528" y="1956816"/>
            <a:ext cx="603504" cy="603504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22" name="Text 20"/>
          <p:cNvSpPr/>
          <p:nvPr/>
        </p:nvSpPr>
        <p:spPr>
          <a:xfrm>
            <a:off x="6510528" y="19385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251192" y="201168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Migrate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510528" y="2761488"/>
            <a:ext cx="1234440" cy="384048"/>
          </a:xfrm>
          <a:prstGeom prst="roundRect">
            <a:avLst>
              <a:gd name="adj" fmla="val 21429"/>
            </a:avLst>
          </a:prstGeom>
          <a:solidFill>
            <a:srgbClr val="F2F6FB"/>
          </a:solidFill>
          <a:ln/>
        </p:spPr>
      </p:sp>
      <p:sp>
        <p:nvSpPr>
          <p:cNvPr id="25" name="Text 23"/>
          <p:cNvSpPr/>
          <p:nvPr/>
        </p:nvSpPr>
        <p:spPr>
          <a:xfrm>
            <a:off x="6510528" y="27477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2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10528" y="3310128"/>
            <a:ext cx="2295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 CSV import with dry-run validation across 13 master-data entities; CSV/JSON export for 22.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043416" y="3017520"/>
            <a:ext cx="146304" cy="125821"/>
          </a:xfrm>
          <a:prstGeom prst="chevron">
            <a:avLst/>
          </a:prstGeom>
          <a:solidFill>
            <a:srgbClr val="F59E0B"/>
          </a:solidFill>
          <a:ln/>
        </p:spPr>
      </p:sp>
      <p:sp>
        <p:nvSpPr>
          <p:cNvPr id="28" name="Shape 26"/>
          <p:cNvSpPr/>
          <p:nvPr/>
        </p:nvSpPr>
        <p:spPr>
          <a:xfrm>
            <a:off x="9208008" y="1737360"/>
            <a:ext cx="2734056" cy="2834640"/>
          </a:xfrm>
          <a:prstGeom prst="roundRect">
            <a:avLst>
              <a:gd name="adj" fmla="val 3344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427464" y="1956816"/>
            <a:ext cx="603504" cy="6035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9427464" y="19385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0168128" y="2011680"/>
            <a:ext cx="16367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Adopt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9427464" y="2761488"/>
            <a:ext cx="1234440" cy="384048"/>
          </a:xfrm>
          <a:prstGeom prst="roundRect">
            <a:avLst>
              <a:gd name="adj" fmla="val 21429"/>
            </a:avLst>
          </a:prstGeom>
          <a:solidFill>
            <a:srgbClr val="F2F6FB"/>
          </a:solidFill>
          <a:ln/>
        </p:spPr>
      </p:sp>
      <p:sp>
        <p:nvSpPr>
          <p:cNvPr id="33" name="Text 31"/>
          <p:cNvSpPr/>
          <p:nvPr/>
        </p:nvSpPr>
        <p:spPr>
          <a:xfrm>
            <a:off x="9427464" y="27477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WEEKS 3–4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427464" y="3310128"/>
            <a:ext cx="2295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onboard in the work inbox and planner; realtime gateway live; first Leadership Pack shipped.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57200" y="4892040"/>
            <a:ext cx="11274552" cy="1005840"/>
          </a:xfrm>
          <a:prstGeom prst="roundRect">
            <a:avLst>
              <a:gd name="adj" fmla="val 8182"/>
            </a:avLst>
          </a:prstGeom>
          <a:solidFill>
            <a:srgbClr val="E7EEFC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77240" y="48920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Included from day one:  </a:t>
            </a:r>
            <a:pPr indent="0" marL="0">
              <a:buNone/>
            </a:pPr>
            <a:r>
              <a:rPr lang="en-US" sz="1350" dirty="0">
                <a:solidFill>
                  <a:srgbClr val="1E2A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 enterprise dataset  ·  10-product documentation set  ·  operations runbook  ·  audit-ready event history  ·  executive demo data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SCALABILITY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Enterprise-grade by design, not by add-on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182880" cy="1828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1024128" y="170078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Identity &amp; access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24128" y="2048256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sessions with 8 system roles and 32 granular permissions; super-admin isolation.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36208" y="1554480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828800"/>
            <a:ext cx="182880" cy="18288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6803136" y="170078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traceability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03136" y="2048256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event recorded on every create, update, approval and gate decision — exportable.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035808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3310128"/>
            <a:ext cx="182880" cy="18288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" y="31821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perimeter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24128" y="3529584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Self-hosted on-premises, private cloud or Docker — delivery data never leaves your control.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36208" y="3035808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2F6FB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3310128"/>
            <a:ext cx="182880" cy="182880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8" name="Text 16"/>
          <p:cNvSpPr/>
          <p:nvPr/>
        </p:nvSpPr>
        <p:spPr>
          <a:xfrm>
            <a:off x="6803136" y="318211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to scale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03136" y="3529584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in production, stateless app tier, Socket.IO gateway, containerized rollout.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4517136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4791456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1024128" y="46634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discipline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24128" y="5010912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Governed imports validate before commit; history-preserving guards block destructive deletes.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36208" y="4517136"/>
            <a:ext cx="548640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9525">
            <a:solidFill>
              <a:srgbClr val="E6EBF2"/>
            </a:solidFill>
            <a:prstDash val="solid"/>
          </a:ln>
          <a:effectLst>
            <a:outerShdw sx="100000" sy="100000" kx="0" ky="0" algn="bl" rotWithShape="0" blurRad="88900" dist="25400" dir="5400000">
              <a:srgbClr val="0A1C33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92240" y="4791456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6803136" y="466344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Operable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803136" y="5010912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Env-based secrets, deployment guide, operations runbook and health endpoints included.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57200" y="6455664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detail: PM Control Tower security &amp; architecture documentation (v1.0.0).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D4ED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COMPETITIVE DIFFERENTIATION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76656"/>
            <a:ext cx="112745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not spreadsheets — or the legacy suite?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81328"/>
          <a:ext cx="11274552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3026664"/>
                <a:gridCol w="2889504"/>
                <a:gridCol w="2889504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PM Control Tower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Spreadsheets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Legacy PPM suites</a:t>
                      </a:r>
                      <a:endParaRPr lang="en-US" sz="13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 to value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Weeks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Immediate, then chaos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Months of configuration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CPM + EVM engines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Built-in, always 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Manual formulas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Paid add-on modules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Governance &amp; alerts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Rules engine → inbox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Batch reports next day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Audit trail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 change recorded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Partial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Leadership reporting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One-click, versioned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Hand-built decks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Consultant-configured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Realtime updates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Live via gateway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Stale on arrival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Nightly synchronization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Hosting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Self-hosted or your cloud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E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A3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Vendor cloud only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0350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difference that matters:  </a:t>
            </a:r>
            <a:pPr indent="0" marL="0">
              <a:buNone/>
            </a:pPr>
            <a:r>
              <a:rPr lang="en-US" sz="13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 Control Tower computes the truth instead of collecting it.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411712" y="647395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D6E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257800"/>
            <a:ext cx="1005840" cy="100584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4709160"/>
            <a:ext cx="2103120" cy="210312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11480" y="4160520"/>
            <a:ext cx="3200400" cy="320040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960120" y="3611880"/>
            <a:ext cx="4297680" cy="4297680"/>
          </a:xfrm>
          <a:prstGeom prst="ellipse">
            <a:avLst/>
          </a:prstGeom>
          <a:ln w="12700">
            <a:solidFill>
              <a:srgbClr val="1B37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0233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 TO ACTION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control from one tower.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3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your own portfolio inside PM Control Tower within two weeks.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13294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843784"/>
            <a:ext cx="566928" cy="56692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17320" y="293522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Scoping workshop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3232" y="3630168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Half a day with your PMO — map portfolios, programs and governance thresholds.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79392" y="260604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13294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35424" y="2843784"/>
            <a:ext cx="566928" cy="566928"/>
          </a:xfrm>
          <a:prstGeom prst="ellipse">
            <a:avLst/>
          </a:prstGeom>
          <a:solidFill>
            <a:srgbClr val="0E9F6E"/>
          </a:solidFill>
          <a:ln/>
        </p:spPr>
      </p:sp>
      <p:sp>
        <p:nvSpPr>
          <p:cNvPr id="16" name="Text 14"/>
          <p:cNvSpPr/>
          <p:nvPr/>
        </p:nvSpPr>
        <p:spPr>
          <a:xfrm>
            <a:off x="4535424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39512" y="293522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Guided pilot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35424" y="3630168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weeks on one real program: WBS to EVM to governance, with your data.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101584" y="2606040"/>
            <a:ext cx="3611880" cy="2286000"/>
          </a:xfrm>
          <a:prstGeom prst="roundRect">
            <a:avLst>
              <a:gd name="adj" fmla="val 4000"/>
            </a:avLst>
          </a:prstGeom>
          <a:solidFill>
            <a:srgbClr val="13294A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57616" y="2843784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8357616" y="28254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061704" y="2935224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readout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57616" y="3630168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6E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first Leadership Pack presented to the steering committee — the decision writes itself.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5349240"/>
            <a:ext cx="11274552" cy="0"/>
          </a:xfrm>
          <a:prstGeom prst="line">
            <a:avLst/>
          </a:prstGeom>
          <a:noFill/>
          <a:ln w="12700">
            <a:solidFill>
              <a:srgbClr val="2740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577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dynamiq Solutions — PM Control Tower team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9FB3C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sales@dynamiq.solutions   ·   dynamiq.solutions/pmct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132320" y="5989320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· EXECUTE · MONITOR · GOVERN · DELIVER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PM Control Tower — Corporate Sales Presentation</dc:title>
  <dc:subject>PptxGenJS Presentation</dc:subject>
  <dc:creator>dynamiq Solutions</dc:creator>
  <cp:lastModifiedBy>dynamiq Solutions</cp:lastModifiedBy>
  <cp:revision>1</cp:revision>
  <dcterms:created xsi:type="dcterms:W3CDTF">2026-09-12T21:30:47Z</dcterms:created>
  <dcterms:modified xsi:type="dcterms:W3CDTF">2026-09-12T21:30:47Z</dcterms:modified>
</cp:coreProperties>
</file>